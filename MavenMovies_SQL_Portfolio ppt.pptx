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1463040"/>
            <a:ext cx="3108960" cy="3108960"/>
          </a:xfrm>
          <a:prstGeom prst="ellipse">
            <a:avLst/>
          </a:prstGeom>
          <a:solidFill>
            <a:srgbClr val="16243B"/>
          </a:solidFill>
          <a:ln/>
        </p:spPr>
      </p:sp>
      <p:sp>
        <p:nvSpPr>
          <p:cNvPr id="3" name="Shape 1"/>
          <p:cNvSpPr/>
          <p:nvPr/>
        </p:nvSpPr>
        <p:spPr>
          <a:xfrm>
            <a:off x="9128455" y="-1417320"/>
            <a:ext cx="3108960" cy="3108960"/>
          </a:xfrm>
          <a:prstGeom prst="ellipse">
            <a:avLst/>
          </a:prstGeom>
          <a:solidFill>
            <a:srgbClr val="16243B"/>
          </a:solidFill>
          <a:ln/>
        </p:spPr>
      </p:sp>
      <p:sp>
        <p:nvSpPr>
          <p:cNvPr id="4" name="Shape 2"/>
          <p:cNvSpPr/>
          <p:nvPr/>
        </p:nvSpPr>
        <p:spPr>
          <a:xfrm>
            <a:off x="9174175" y="-1371600"/>
            <a:ext cx="3108960" cy="3108960"/>
          </a:xfrm>
          <a:prstGeom prst="ellipse">
            <a:avLst/>
          </a:prstGeom>
          <a:solidFill>
            <a:srgbClr val="16243B"/>
          </a:solidFill>
          <a:ln/>
        </p:spPr>
      </p:sp>
      <p:sp>
        <p:nvSpPr>
          <p:cNvPr id="5" name="Shape 3"/>
          <p:cNvSpPr/>
          <p:nvPr/>
        </p:nvSpPr>
        <p:spPr>
          <a:xfrm>
            <a:off x="-1463040" y="4846320"/>
            <a:ext cx="2926080" cy="2926080"/>
          </a:xfrm>
          <a:prstGeom prst="ellipse">
            <a:avLst/>
          </a:prstGeom>
          <a:solidFill>
            <a:srgbClr val="16243B"/>
          </a:solidFill>
          <a:ln/>
        </p:spPr>
      </p:sp>
      <p:pic>
        <p:nvPicPr>
          <p:cNvPr id="6" name="Image 0" descr="icons/film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7772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5544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MAVEN MOVIES RENTAL BUSINESS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02920" y="23317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 ANALYSIS PROJECT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0292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SQL Portfolio Project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3977640"/>
            <a:ext cx="6949440" cy="1920240"/>
          </a:xfrm>
          <a:prstGeom prst="roundRect">
            <a:avLst>
              <a:gd name="adj" fmla="val 3810"/>
            </a:avLst>
          </a:prstGeom>
          <a:solidFill>
            <a:srgbClr val="16243B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41605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Payal Rana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448970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Graduate | Aspiring Data Analyst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481888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(MySQL), MySQL Workbench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" y="514807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TYPE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– Maven Movies Project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" y="547725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Analyzing the Maven Movies Rental Dataset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applies SQL to analyze operational data for a multi-store DVD / movie rental business. The analysis works through exploratory data profiling, schema discovery, and a series of realistic ad-hoc business questions that a rental company's marketing, inventory, and management teams might ask — covering joins, aggregation, subqueries, CASE-based segmentation, and set operations.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3383280"/>
            <a:ext cx="5120640" cy="2834640"/>
          </a:xfrm>
          <a:prstGeom prst="roundRect">
            <a:avLst>
              <a:gd name="adj" fmla="val 2581"/>
            </a:avLst>
          </a:prstGeom>
          <a:solidFill>
            <a:srgbClr val="F1F3F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566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answered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hand-written SQL queries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51206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analysis sections · Joins · Subqueries · GROUP BY / HAVING · CASE logic · UNION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09360" y="1051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TABLES IN THE SCHEMA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46304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FAFAFC"/>
          </a:solidFill>
          <a:ln w="12700">
            <a:solidFill>
              <a:srgbClr val="DADF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3952" y="1609344"/>
            <a:ext cx="457200" cy="457200"/>
          </a:xfrm>
          <a:prstGeom prst="ellipse">
            <a:avLst/>
          </a:prstGeom>
          <a:solidFill>
            <a:srgbClr val="F1F3F8"/>
          </a:solidFill>
          <a:ln/>
        </p:spPr>
      </p:sp>
      <p:pic>
        <p:nvPicPr>
          <p:cNvPr id="12" name="Image 0" descr="icons/us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36" y="1709928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73952" y="21214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ADDRESS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73952" y="24048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contact details, home store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9144000" y="146304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FAFAFC"/>
          </a:solidFill>
          <a:ln w="12700">
            <a:solidFill>
              <a:srgbClr val="DADF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308592" y="1609344"/>
            <a:ext cx="457200" cy="457200"/>
          </a:xfrm>
          <a:prstGeom prst="ellipse">
            <a:avLst/>
          </a:prstGeom>
          <a:solidFill>
            <a:srgbClr val="F1F3F8"/>
          </a:solidFill>
          <a:ln/>
        </p:spPr>
      </p:sp>
      <p:pic>
        <p:nvPicPr>
          <p:cNvPr id="17" name="Image 1" descr="icons/film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9176" y="1709928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308592" y="21214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/ CATEGORY / LANGUAGE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9308592" y="24048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genres, and language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309360" y="288036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FAFAFC"/>
          </a:solidFill>
          <a:ln w="12700">
            <a:solidFill>
              <a:srgbClr val="DADFE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73952" y="3026664"/>
            <a:ext cx="457200" cy="457200"/>
          </a:xfrm>
          <a:prstGeom prst="ellipse">
            <a:avLst/>
          </a:prstGeom>
          <a:solidFill>
            <a:srgbClr val="F1F3F8"/>
          </a:solidFill>
          <a:ln/>
        </p:spPr>
      </p:sp>
      <p:pic>
        <p:nvPicPr>
          <p:cNvPr id="22" name="Image 2" descr="icons/userti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3127248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73952" y="3538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/ FILM_ACTOR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473952" y="3822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members and film credits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9144000" y="288036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FAFAFC"/>
          </a:solidFill>
          <a:ln w="12700">
            <a:solidFill>
              <a:srgbClr val="DADFE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308592" y="3026664"/>
            <a:ext cx="457200" cy="457200"/>
          </a:xfrm>
          <a:prstGeom prst="ellipse">
            <a:avLst/>
          </a:prstGeom>
          <a:solidFill>
            <a:srgbClr val="F1F3F8"/>
          </a:solidFill>
          <a:ln/>
        </p:spPr>
      </p:sp>
      <p:pic>
        <p:nvPicPr>
          <p:cNvPr id="27" name="Image 3" descr="icons/box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3127248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08592" y="3538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9308592" y="3822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copies tied to each store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6309360" y="429768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FAFAFC"/>
          </a:solidFill>
          <a:ln w="12700">
            <a:solidFill>
              <a:srgbClr val="DADFE8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473952" y="4443984"/>
            <a:ext cx="457200" cy="457200"/>
          </a:xfrm>
          <a:prstGeom prst="ellipse">
            <a:avLst/>
          </a:prstGeom>
          <a:solidFill>
            <a:srgbClr val="F1F3F8"/>
          </a:solidFill>
          <a:ln/>
        </p:spPr>
      </p:sp>
      <p:pic>
        <p:nvPicPr>
          <p:cNvPr id="32" name="Image 4" descr="icons/exchang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4544568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473952" y="49560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6473952" y="52395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rental transactions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9144000" y="429768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FAFAFC"/>
          </a:solidFill>
          <a:ln w="12700">
            <a:solidFill>
              <a:srgbClr val="DADFE8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9308592" y="4443984"/>
            <a:ext cx="457200" cy="457200"/>
          </a:xfrm>
          <a:prstGeom prst="ellipse">
            <a:avLst/>
          </a:prstGeom>
          <a:solidFill>
            <a:srgbClr val="F1F3F8"/>
          </a:solidFill>
          <a:ln/>
        </p:spPr>
      </p:sp>
      <p:pic>
        <p:nvPicPr>
          <p:cNvPr id="37" name="Image 5" descr="icons/money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9176" y="4544568"/>
            <a:ext cx="256032" cy="25603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308592" y="49560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9308592" y="52395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tied to rentals &amp; customers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BASIC DATASET OVERVIEW &amp; EDA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Q1. Provide customer first name, last name, and email ID to the marketing team.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729996"/>
          </a:xfrm>
          <a:prstGeom prst="roundRect">
            <a:avLst>
              <a:gd name="adj" fmla="val 8768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510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first_name, last_name, email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2970276"/>
            <a:ext cx="11183112" cy="3430524"/>
          </a:xfrm>
          <a:prstGeom prst="roundRect">
            <a:avLst>
              <a:gd name="adj" fmla="val 1866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539234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970276"/>
            <a:ext cx="10424160" cy="3430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the core contact fields the marketing team needs for outreach campaigns, without exposing unrelated account or address details.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BASIC DATASET OVERVIEW &amp; EDA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Q2. How many movies have a rental rate of $0.99?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939546"/>
          </a:xfrm>
          <a:prstGeom prst="roundRect">
            <a:avLst>
              <a:gd name="adj" fmla="val 6813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7200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AS CHEAPEST_RENTALS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film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rental_rate = 0.99;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3179826"/>
            <a:ext cx="11183112" cy="3220974"/>
          </a:xfrm>
          <a:prstGeom prst="roundRect">
            <a:avLst>
              <a:gd name="adj" fmla="val 1987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644009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179826"/>
            <a:ext cx="10424160" cy="3220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films at the lowest price tier, useful for understanding how much of the catalog sits in the budget pricing bracket.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BASIC DATASET OVERVIEW &amp; EDA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Q3. How many movies are in each rental rate category?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939546"/>
          </a:xfrm>
          <a:prstGeom prst="roundRect">
            <a:avLst>
              <a:gd name="adj" fmla="val 6813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7200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rental_rate, COUNT(*) AS total_numb_of_movies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film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rental_rate;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3179826"/>
            <a:ext cx="11183112" cy="3220974"/>
          </a:xfrm>
          <a:prstGeom prst="roundRect">
            <a:avLst>
              <a:gd name="adj" fmla="val 1987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644009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179826"/>
            <a:ext cx="10424160" cy="3220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the catalog down by every distinct rental price point, showing how titles are distributed across pricing tiers.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BASIC DATASET OVERVIEW &amp; EDA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Q4. Which rating has the most films?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1149096"/>
          </a:xfrm>
          <a:prstGeom prst="roundRect">
            <a:avLst>
              <a:gd name="adj" fmla="val 5570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929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RATING, COUNT(*) AS RATING_CATEGORY_COUNT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FILM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RATING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RATING_CATEGORY_COUNT DESC;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3389376"/>
            <a:ext cx="11183112" cy="3011424"/>
          </a:xfrm>
          <a:prstGeom prst="roundRect">
            <a:avLst>
              <a:gd name="adj" fmla="val 2126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748784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389376"/>
            <a:ext cx="10424160" cy="3011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MPAA rating categories (G, PG, PG-13, R, NC-17) by film count to reveal the dominant content rating in the library.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BASIC DATASET OVERVIEW &amp; EDA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Q5. Which rating is most prevalent in each store?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1358646"/>
          </a:xfrm>
          <a:prstGeom prst="roundRect">
            <a:avLst>
              <a:gd name="adj" fmla="val 4711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1139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I.store_id, F.rating, COUNT(F.rating) AS TOTAL_FILMS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inventory AS I LEFT JOIN film AS F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I.film_id = F.film_id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I.store_id, F.rating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TOTAL_FILMS DESC;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3598926"/>
            <a:ext cx="11183112" cy="2801874"/>
          </a:xfrm>
          <a:prstGeom prst="roundRect">
            <a:avLst>
              <a:gd name="adj" fmla="val 2284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853559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598926"/>
            <a:ext cx="10424160" cy="2801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inventory to film to see how rating mix differs by physical store location, which can inform localized stocking decisions.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BASIC DATASET OVERVIEW &amp; EDA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Q6. List of films by film name, category, and language.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1777746"/>
          </a:xfrm>
          <a:prstGeom prst="roundRect">
            <a:avLst>
              <a:gd name="adj" fmla="val 3601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15582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F.TITLE, LANG.NAME AS LANGUAGE_NAME, C.NAME AS CATEGORY_NAME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FILM AS F LEFT JOIN LANGUAGE AS LANG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F.LANGUAGE_ID = LANG.LANGUAGE_ID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film_category AS FC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F.FILM_ID = FC.FILM_ID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CATEGORY AS C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FC.CATEGORY_ID = C.CATEGORY_ID;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4018026"/>
            <a:ext cx="11183112" cy="2382774"/>
          </a:xfrm>
          <a:prstGeom prst="roundRect">
            <a:avLst>
              <a:gd name="adj" fmla="val 2686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063109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4018026"/>
            <a:ext cx="10424160" cy="2382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three tables to produce a full catalog view — every title alongside its language and genre — useful as a master reference list.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RENTAL ACTIVITY &amp; REVENUE ANALYSIS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Q7. How many times has each movie been rented out?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1777746"/>
          </a:xfrm>
          <a:prstGeom prst="roundRect">
            <a:avLst>
              <a:gd name="adj" fmla="val 3601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15582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F.TITLE, COUNT(R.RENTAL_ID) AS POPULARITY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RENTAL AS R LEFT JOIN INVENTORY AS INV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R.INVENTORY_ID = INV.INVENTORY_ID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FILM AS F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INV.FILM_ID = F.FILM_ID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F.TITLE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POPULARITY DESC;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4018026"/>
            <a:ext cx="11183112" cy="2382774"/>
          </a:xfrm>
          <a:prstGeom prst="roundRect">
            <a:avLst>
              <a:gd name="adj" fmla="val 2686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063109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4018026"/>
            <a:ext cx="10424160" cy="2382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rental → inventory → film to count rentals per title, effectively ranking films by popularity and demand.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RENTAL ACTIVITY &amp; REVENUE ANALYSIS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Q8. Revenue per film — find the top 10 grossing titles.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3035046"/>
          </a:xfrm>
          <a:prstGeom prst="roundRect">
            <a:avLst>
              <a:gd name="adj" fmla="val 2109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2815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RENTAL_ID_TRANSACTIONS.TITLE, SUM(P.AMOUNT) AS GROSS_REVENUE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(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R.RENTAL_ID, F.FILM_ID, F.TITLE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RENTAL AS R LEFT JOIN INVENTORY AS INV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R.INVENTORY_ID = INV.INVENTORY_ID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 JOIN FILM AS F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INV.FILM_ID = F.FILM_ID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RENTAL_ID_TRANSACTIONS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PAYMENT AS P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RENTAL_ID_TRANSACTIONS.RENTAL_ID = P.RENTAL_ID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RENTAL_ID_TRANSACTIONS.TITLE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GROSS_REVENUE DESC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10;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5275326"/>
            <a:ext cx="11183112" cy="1125474"/>
          </a:xfrm>
          <a:prstGeom prst="roundRect">
            <a:avLst>
              <a:gd name="adj" fmla="val 5687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691759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5275326"/>
            <a:ext cx="10424160" cy="1125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subquery to map each payment back to its film title, then sums revenue per title to surface the ten highest-grossing movies.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RENTAL ACTIVITY &amp; REVENUE ANALYSIS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Q9. Which customer has spent the most (for a loyalty reward)?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1568196"/>
          </a:xfrm>
          <a:prstGeom prst="roundRect">
            <a:avLst>
              <a:gd name="adj" fmla="val 4082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1348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P.CUSTOMER_ID, SUM(AMOUNT) AS SPENDING, C.FIRST_NAME, C.LAST_NAME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PAYMENT AS P LEFT JOIN CUSTOMER AS C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P.CUSTOMER_ID = C.CUSTOMER_ID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P.CUSTOMER_ID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SPENDING DESC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3808476"/>
            <a:ext cx="11183112" cy="2592324"/>
          </a:xfrm>
          <a:prstGeom prst="roundRect">
            <a:avLst>
              <a:gd name="adj" fmla="val 2469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958334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808476"/>
            <a:ext cx="10424160" cy="2592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total payments per customer and returns the single top spender, a natural candidate for a loyalty reward.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RENTAL ACTIVITY &amp; REVENUE ANALYSIS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Q10. Which store has historically brought in the most revenue?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1358646"/>
          </a:xfrm>
          <a:prstGeom prst="roundRect">
            <a:avLst>
              <a:gd name="adj" fmla="val 4711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1139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ST.STORE_ID, SUM(P.AMOUNT) AS STORE_REVENUE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PAYMENT AS P LEFT JOIN STAFF AS ST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P.STAFF_ID = ST.STAFF_ID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ST.STORE_ID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STORE_REVENUE DESC;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3598926"/>
            <a:ext cx="11183112" cy="2801874"/>
          </a:xfrm>
          <a:prstGeom prst="roundRect">
            <a:avLst>
              <a:gd name="adj" fmla="val 2284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853559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598926"/>
            <a:ext cx="10424160" cy="2801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each payment to a store via the staff member who processed it, then totals revenue to compare store performance.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RENTAL ACTIVITY &amp; REVENUE ANALYSIS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Q11. How many rentals occur each month?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1568196"/>
          </a:xfrm>
          <a:prstGeom prst="roundRect">
            <a:avLst>
              <a:gd name="adj" fmla="val 4082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1348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MONTHNAME(RENTAL_DATE) AS MONTH_NAME,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EXTRACT(YEAR FROM RENTAL_DATE) AS YEAR_NUMBR,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COUNT(rental.rental_id) AS NUMBER_RENTALS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RENTAL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EXTRACT(YEAR FROM RENTAL_DATE), MONTHNAME(RENTAL_DATE)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NUMBER_RENTALS DESC;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3808476"/>
            <a:ext cx="11183112" cy="2592324"/>
          </a:xfrm>
          <a:prstGeom prst="roundRect">
            <a:avLst>
              <a:gd name="adj" fmla="val 2469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958334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808476"/>
            <a:ext cx="10424160" cy="2592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rental volume out by month and year, highlighting seasonal peaks and troughs in demand.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RENTAL ACTIVITY &amp; REVENUE ANALYSIS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Q12. Reward customers who have rented at least 30 times (with contact details).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2825496"/>
          </a:xfrm>
          <a:prstGeom prst="roundRect">
            <a:avLst>
              <a:gd name="adj" fmla="val 2265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LOYAL_CUSTOMERS.CUSTOMER_ID, C.FIRST_NAME, C.LAST_NAME, C.EMAIL, AD.PHONE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(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CUSTOMER_ID, COUNT(RENTAL_ID) AS NUMBER_OF_RENTALS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RENTAL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CUSTOMER_ID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HAVING NUMBER_OF_RENTALS &gt;= 30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CUSTOMER_ID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LOYAL_CUSTOMERS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CUSTOMER AS C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LOYAL_CUSTOMERS.CUSTOMER_ID = C.CUSTOMER_ID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ADDRESS AS AD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C.ADDRESS_ID = AD.ADDRESS_ID;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5065776"/>
            <a:ext cx="11183112" cy="1335024"/>
          </a:xfrm>
          <a:prstGeom prst="roundRect">
            <a:avLst>
              <a:gd name="adj" fmla="val 4795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586984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5065776"/>
            <a:ext cx="1042416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isolates customers with 30+ lifetime rentals using HAVING, then enriches that list with name, email, and phone for a rewards outreach list.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CUSTOMER FILTERING &amp; ENGAGEMENT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Q13. Pull all payments from the first 100 customers (by customer ID).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939546"/>
          </a:xfrm>
          <a:prstGeom prst="roundRect">
            <a:avLst>
              <a:gd name="adj" fmla="val 6813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7200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CUSTOMER_ID, RENTAL_ID, AMOUNT, PAYMENT_DATE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PAYMENT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CUSTOMER_ID &lt; 101;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3179826"/>
            <a:ext cx="11183112" cy="3220974"/>
          </a:xfrm>
          <a:prstGeom prst="roundRect">
            <a:avLst>
              <a:gd name="adj" fmla="val 1987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644009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179826"/>
            <a:ext cx="10424160" cy="3220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range filter on customer ID to scope the payment history to a defined customer cohort.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CUSTOMER FILTERING &amp; ENGAGEMENT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Q14. Same 100 customers — payments over $5, since January 1, 2006.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1358646"/>
          </a:xfrm>
          <a:prstGeom prst="roundRect">
            <a:avLst>
              <a:gd name="adj" fmla="val 4711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1139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CUSTOMER_ID, RENTAL_ID, AMOUNT, PAYMENT_DATE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PAYMENT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CUSTOMER_ID &lt; 101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AMOUNT &gt; 5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PAYMENT_DATE &gt; '2006-01-01';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3598926"/>
            <a:ext cx="11183112" cy="2801874"/>
          </a:xfrm>
          <a:prstGeom prst="roundRect">
            <a:avLst>
              <a:gd name="adj" fmla="val 2284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853559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598926"/>
            <a:ext cx="10424160" cy="2801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an amount and date filter on top of the same customer range to narrow in on higher-value, recent transactions.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CUSTOMER FILTERING &amp; ENGAGEMENT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Q15. Payments from those specific customers, plus any payment over $5 from any customer.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2615946"/>
          </a:xfrm>
          <a:prstGeom prst="roundRect">
            <a:avLst>
              <a:gd name="adj" fmla="val 2447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2396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CUSTOMER_ID, RENTAL_ID, AMOUNT, PAYMENT_DATE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PAYMENT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AMOUNT &gt; 5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 CUSTOMER_ID = 42 OR CUSTOMER_ID = 53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 CUSTOMER_ID = 60 OR CUSTOMER_ID = 75;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cleaner version using IN():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CUSTOMER_ID, RENTAL_ID, AMOUNT, PAYMENT_DATE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PAYMENT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AMOUNT &gt; 5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CUSTOMER_ID IN (42,53,60,75);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4856226"/>
            <a:ext cx="11183112" cy="1544574"/>
          </a:xfrm>
          <a:prstGeom prst="roundRect">
            <a:avLst>
              <a:gd name="adj" fmla="val 4144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482209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4856226"/>
            <a:ext cx="10424160" cy="15445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the difference between an OR-based combined filter (broad) and an AND + IN() filter (narrow), showing how logical operators change result scope.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CUSTOMER FILTERING &amp; ENGAGEMENT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Q16. Which films include a 'Behind the Scenes' special feature?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939546"/>
          </a:xfrm>
          <a:prstGeom prst="roundRect">
            <a:avLst>
              <a:gd name="adj" fmla="val 6813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7200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TITLE, SPECIAL_FEATURES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FILM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SPECIAL_FEATURES LIKE '%Behind the Scenes%';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3179826"/>
            <a:ext cx="11183112" cy="3220974"/>
          </a:xfrm>
          <a:prstGeom prst="roundRect">
            <a:avLst>
              <a:gd name="adj" fmla="val 1987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644009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179826"/>
            <a:ext cx="10424160" cy="3220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pattern matching on the special_features column to isolate titles that include bonus behind-the-scenes content.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CUSTOMER FILTERING &amp; ENGAGEMENT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Q17. Customers with fewer than 15 lifetime rentals (low-engagement outreach list).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1149096"/>
          </a:xfrm>
          <a:prstGeom prst="roundRect">
            <a:avLst>
              <a:gd name="adj" fmla="val 5570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929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CUSTOMER_ID, COUNT(*) AS TOTAL_RENTALS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RENTAL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CUSTOMER_ID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TOTAL_RENTALS &lt; 15;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3389376"/>
            <a:ext cx="11183112" cy="3011424"/>
          </a:xfrm>
          <a:prstGeom prst="roundRect">
            <a:avLst>
              <a:gd name="adj" fmla="val 2126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748784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389376"/>
            <a:ext cx="10424160" cy="3011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customers below an engagement threshold, useful for win-back campaigns or understanding churn risk.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FILM CATALOG ANALYSIS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Q18. Unique movie ratings and how many movies fall under each.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939546"/>
          </a:xfrm>
          <a:prstGeom prst="roundRect">
            <a:avLst>
              <a:gd name="adj" fmla="val 6813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7200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RATING, COUNT(FILM_ID) AS NUMBER_OF_FILMS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FILM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RATING;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3179826"/>
            <a:ext cx="11183112" cy="3220974"/>
          </a:xfrm>
          <a:prstGeom prst="roundRect">
            <a:avLst>
              <a:gd name="adj" fmla="val 1987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644009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179826"/>
            <a:ext cx="10424160" cy="3220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straightforward count of titles per MPAA rating, giving a quick content-mix snapshot.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FILM CATALOG ANALYSIS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Q19. Count of titles sliced by rental duration.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1987296"/>
          </a:xfrm>
          <a:prstGeom prst="roundRect">
            <a:avLst>
              <a:gd name="adj" fmla="val 3221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1767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RENTAL_DURATION, COUNT(FILM_ID) AS NUMBER_OF_FILMS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FILM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RENTAL_DURATION;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cross-tabbed by rating and duration: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RATING, RENTAL_DURATION, COUNT(FILM_ID) AS NUMBER_OF_FILMS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FILM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RATING, RENTAL_DURATION;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4227576"/>
            <a:ext cx="11183112" cy="2173224"/>
          </a:xfrm>
          <a:prstGeom prst="roundRect">
            <a:avLst>
              <a:gd name="adj" fmla="val 2945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167884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4227576"/>
            <a:ext cx="10424160" cy="2173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many films are assigned to each allowed rental period, then cross-tabs against rating to see if ratings skew toward longer or shorter windows.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FILM CATALOG ANALYSIS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Q20. Rating, film count, length range, and average rental duration — compared.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2196846"/>
          </a:xfrm>
          <a:prstGeom prst="roundRect">
            <a:avLst>
              <a:gd name="adj" fmla="val 2914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1977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RATING,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COUNT(FILM_ID) AS COUNT_OF_FILMS,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MIN(LENGTH) AS SHORTEST_FILM,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MAX(LENGTH) AS LONGEST_FILM,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AVG(LENGTH) AS AVERAGE_FILM_LENGTH,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AVG(RENTAL_DURATION) AS AVERAGE_RENTAL_DURATION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FILM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RATING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AVERAGE_FILM_LENGTH;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4437126"/>
            <a:ext cx="11183112" cy="1963674"/>
          </a:xfrm>
          <a:prstGeom prst="roundRect">
            <a:avLst>
              <a:gd name="adj" fmla="val 3260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272659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4437126"/>
            <a:ext cx="10424160" cy="1963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five aggregates in one pass to check whether longer films, by rating category, are also given longer rental windows.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FILM CATALOG ANALYSIS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Q21. Does a higher replacement cost correlate with a higher rental rate?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1987296"/>
          </a:xfrm>
          <a:prstGeom prst="roundRect">
            <a:avLst>
              <a:gd name="adj" fmla="val 3221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1767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REPLACEMENT_COST,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COUNT(FILM_ID) AS NUMBER_OF_FILMS,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MIN(RENTAL_RATE) AS CHEAPEST_RENTAL,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MAX(RENTAL_RATE) AS EXPENSIVE_RENTAL,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AVG(RENTAL_RATE) AS AVERAGE_RENTAL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FILM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REPLACEMENT_COST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REPLACEMENT_COST;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4227576"/>
            <a:ext cx="11183112" cy="2173224"/>
          </a:xfrm>
          <a:prstGeom prst="roundRect">
            <a:avLst>
              <a:gd name="adj" fmla="val 2945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167884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4227576"/>
            <a:ext cx="10424160" cy="2173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films by replacement cost and summarizes their rental rate range, testing whether pricier-to-replace inventory is priced higher to rent.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FILM CATALOG ANALYSIS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Q22. Film titles, lengths, and rental rates — longest to shortest.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1149096"/>
          </a:xfrm>
          <a:prstGeom prst="roundRect">
            <a:avLst>
              <a:gd name="adj" fmla="val 5570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929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TITLE, LENGTH, RENTAL_RATE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FILM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LENGTH DESC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20;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3389376"/>
            <a:ext cx="11183112" cy="3011424"/>
          </a:xfrm>
          <a:prstGeom prst="roundRect">
            <a:avLst>
              <a:gd name="adj" fmla="val 2126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748784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389376"/>
            <a:ext cx="10424160" cy="3011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ranked list checking whether the longest films also carry the highest rental rates.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FILM CATALOG ANALYSIS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Q23. Categorize films by length bucket.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1987296"/>
          </a:xfrm>
          <a:prstGeom prst="roundRect">
            <a:avLst>
              <a:gd name="adj" fmla="val 3221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1767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TITLE, LENGTH,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LENGTH &lt; 60 THEN 'UNDER 1 HR'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LENGTH BETWEEN 60 AND 90 THEN '1 TO 1.5 HRS'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LENGTH &gt; 90 THEN 'OVER 1.5 HRS'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'ERROR'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AS LENGTH_BUCKET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FILM;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4227576"/>
            <a:ext cx="11183112" cy="2173224"/>
          </a:xfrm>
          <a:prstGeom prst="roundRect">
            <a:avLst>
              <a:gd name="adj" fmla="val 2945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167884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4227576"/>
            <a:ext cx="10424160" cy="2173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CASE expression to bucket every film into a runtime category, making the catalog easier to browse or filter by duration.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FILM CATALOG ANALYSIS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Q24. Categorize films for child / family recommendation fitness.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2406396"/>
          </a:xfrm>
          <a:prstGeom prst="roundRect">
            <a:avLst>
              <a:gd name="adj" fmla="val 2660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2186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TITLE,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RENTAL_DURATION &lt;= 4 THEN 'RENTAL TOO SHORT'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RENTAL_RATE &gt;= 3.99 THEN 'TOO EXPENSIVE'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RATING IN ('NC-17','R') THEN 'TOO ADULT'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LENGTH NOT BETWEEN 60 AND 90 THEN 'TOO SHORT OR TOO LONG'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DESCRIPTION LIKE '%Shark%' THEN 'NO_NO_HAS_SHARKS'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'GREAT_RECOMMENDATION_FOR_CHILDREN'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AS FIT_FOR_RECOMMENDATTION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FILM;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4646676"/>
            <a:ext cx="11183112" cy="1754124"/>
          </a:xfrm>
          <a:prstGeom prst="roundRect">
            <a:avLst>
              <a:gd name="adj" fmla="val 3649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377434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4646676"/>
            <a:ext cx="10424160" cy="1754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multi-condition CASE statement to auto-tag films as suitable or unsuitable for a children's recommendation list, based on duration, price, rating, length, and keyword screening.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STORE &amp; CUSTOMER STATUS REPORTING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Q25. Which store each customer belongs to, and whether their account is active.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2196846"/>
          </a:xfrm>
          <a:prstGeom prst="roundRect">
            <a:avLst>
              <a:gd name="adj" fmla="val 2914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1977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CUSTOMER_ID, FIRST_NAME, LAST_NAME,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STORE_ID = 1 AND ACTIVE = 1 THEN 'store 1 active'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STORE_ID = 1 AND ACTIVE = 0 THEN 'store 1 inactive'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STORE_ID = 2 AND ACTIVE = 1 THEN 'store 2 active'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STORE_ID = 2 AND ACTIVE = 0 THEN 'store 2 inactive'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'ERROR'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AS STORE_AND_STATUS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4437126"/>
            <a:ext cx="11183112" cy="1963674"/>
          </a:xfrm>
          <a:prstGeom prst="roundRect">
            <a:avLst>
              <a:gd name="adj" fmla="val 3260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272659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4437126"/>
            <a:ext cx="10424160" cy="1963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store assignment and active flag into one readable label per customer, useful for account-status reporting.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STORE &amp; CUSTOMER STATUS REPORTING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Q26. Full inventory list — film title, description, store, and inventory ID.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1568196"/>
          </a:xfrm>
          <a:prstGeom prst="roundRect">
            <a:avLst>
              <a:gd name="adj" fmla="val 4082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1348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INVENTORY.INVENTORY_ID,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INVENTORY.STORE_ID,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FILM.TITLE,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FILM.DESCRIPTION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FILM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INVENTORY ON FILM.FILM_ID = INVENTORY.FILM_ID;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3808476"/>
            <a:ext cx="11183112" cy="2592324"/>
          </a:xfrm>
          <a:prstGeom prst="roundRect">
            <a:avLst>
              <a:gd name="adj" fmla="val 2469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958334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808476"/>
            <a:ext cx="10424160" cy="2592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film to inventory to produce a per-copy listing that shows exactly what's in stock at which store.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ACTOR &amp; CAST ANALYSIS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Q27. Actor first name, last name, and number of films they've appeared in.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1568196"/>
          </a:xfrm>
          <a:prstGeom prst="roundRect">
            <a:avLst>
              <a:gd name="adj" fmla="val 4082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1348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ACTOR.ACTOR_ID, ACTOR.FIRST_NAME, ACTOR.LAST_NAME,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COUNT(FILM_ACTOR.FILM_ID) AS NUMBER_OF_FILMS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ACTOR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FILM_ACTOR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ACTOR.ACTOR_ID = FILM_ACTOR.ACTOR_ID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ACTOR.ACTOR_ID;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3808476"/>
            <a:ext cx="11183112" cy="2592324"/>
          </a:xfrm>
          <a:prstGeom prst="roundRect">
            <a:avLst>
              <a:gd name="adj" fmla="val 2469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958334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808476"/>
            <a:ext cx="10424160" cy="2592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the actor and film_actor bridge table to count filmography size for every actor in the database.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ACTOR &amp; CAST ANALYSIS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Q28. How many actors are associated with each film title (for an investor)?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1568196"/>
          </a:xfrm>
          <a:prstGeom prst="roundRect">
            <a:avLst>
              <a:gd name="adj" fmla="val 4082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1348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FILM.TITLE,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COUNT(FILM_ACTOR.ACTOR_ID) AS NUMBER_OF_ACTORS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FILM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FILM_ACTOR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FILM.FILM_ID = FILM_ACTOR.FILM_ID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FILM.TITLE;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3808476"/>
            <a:ext cx="11183112" cy="2592324"/>
          </a:xfrm>
          <a:prstGeom prst="roundRect">
            <a:avLst>
              <a:gd name="adj" fmla="val 2469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958334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808476"/>
            <a:ext cx="10424160" cy="2592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inverse of the previous query — counts cast size per title, giving investors a sense of production scale across the catalog.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ACTOR &amp; CAST ANALYSIS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Q29. Full list of actors and every title they appear in.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1777746"/>
          </a:xfrm>
          <a:prstGeom prst="roundRect">
            <a:avLst>
              <a:gd name="adj" fmla="val 3601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15582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ACTOR.FIRST_NAME, ACTOR.LAST_NAME, FILM.TITLE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ACTOR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FILM_ACTOR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ACTOR.ACTOR_ID = FILM_ACTOR.ACTOR_ID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FILM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FILM_ACTOR.FILM_ID = FILM.FILM_ID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ACTOR.LAST_NAME, ACTOR.FIRST_NAME;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4018026"/>
            <a:ext cx="11183112" cy="2382774"/>
          </a:xfrm>
          <a:prstGeom prst="roundRect">
            <a:avLst>
              <a:gd name="adj" fmla="val 2686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063109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4018026"/>
            <a:ext cx="10424160" cy="2382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actor → film_actor → film to build a customer-facing 'actor filmography' lookup, sorted alphabetically by actor name.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STORE EXPANSION &amp; STAFF REPORTING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Q30. Distinct titles and descriptions currently in inventory at Store 2 (for collection expansion planning).</a:t>
            </a:r>
            <a:endParaRPr lang="en-US" sz="19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1358646"/>
          </a:xfrm>
          <a:prstGeom prst="roundRect">
            <a:avLst>
              <a:gd name="adj" fmla="val 4711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1139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FILM.TITLE, FILM.DESCRIPTION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FILM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INVENTORY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FILM.FILM_ID = INVENTORY.FILM_ID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INVENTORY.STORE_ID = 2;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3598926"/>
            <a:ext cx="11183112" cy="2801874"/>
          </a:xfrm>
          <a:prstGeom prst="roundRect">
            <a:avLst>
              <a:gd name="adj" fmla="val 2284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853559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598926"/>
            <a:ext cx="10424160" cy="2801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the catalog to only what's physically stocked at Store 2, giving the store manager a clear view of the current assortment before deciding what to add.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-3200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6217920" cy="32918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STORE EXPANSION &amp; STAFF REPORTING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Q31. Combined staff and advisor directory, labeled by role, for an all-hands meeting.</a:t>
            </a:r>
            <a:endParaRPr lang="en-US" sz="2200" dirty="0"/>
          </a:p>
        </p:txBody>
      </p:sp>
      <p:pic>
        <p:nvPicPr>
          <p:cNvPr id="6" name="Image 0" descr="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11183112" cy="1358646"/>
          </a:xfrm>
          <a:prstGeom prst="roundRect">
            <a:avLst>
              <a:gd name="adj" fmla="val 4711"/>
            </a:avLst>
          </a:prstGeom>
          <a:solidFill>
            <a:srgbClr val="0F1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67128"/>
            <a:ext cx="10698480" cy="1139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(SELECT FIRST_NAME, LAST_NAME, 'ADVISORS' AS DESIGNATION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ADVISOR)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(SELECT FIRST_NAME, LAST_NAME, 'STAFF MEMBER' AS DESIGNATION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STAFF);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3598926"/>
            <a:ext cx="11183112" cy="2801874"/>
          </a:xfrm>
          <a:prstGeom prst="roundRect">
            <a:avLst>
              <a:gd name="adj" fmla="val 2284"/>
            </a:avLst>
          </a:prstGeom>
          <a:solidFill>
            <a:srgbClr val="F1F3F8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853559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598926"/>
            <a:ext cx="10424160" cy="2801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UNION to stack two separate people tables, staff and advisors, into a single roster, tagging each row with its source so both groups can be printed on one meeting list.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31 SQL Queries Reveal About the Business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1624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1F2E45"/>
          </a:solidFill>
          <a:ln/>
        </p:spPr>
      </p:sp>
      <p:pic>
        <p:nvPicPr>
          <p:cNvPr id="6" name="Image 0" descr="icons/tags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470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0992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 &amp; Pricing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8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Rental-rate, rating, and duration breakdowns map how the catalog is priced and organized.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8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logic auto-tags films for merchandising and family-friendly recommendations.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50876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16243B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1737360"/>
            <a:ext cx="457200" cy="457200"/>
          </a:xfrm>
          <a:prstGeom prst="ellipse">
            <a:avLst/>
          </a:prstGeom>
          <a:solidFill>
            <a:srgbClr val="1F2E45"/>
          </a:solidFill>
          <a:ln/>
        </p:spPr>
      </p:sp>
      <p:pic>
        <p:nvPicPr>
          <p:cNvPr id="11" name="Image 1" descr="icons/char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18470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70992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Rentals &amp; Revenue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29400" y="2286000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8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counts and top-10 grossing titles show which inventory works hardest for the business.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8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attributed by store (via staff) surfaces the stronger-performing location.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8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rental counts expose seasonal demand patterns for staffing and promotions.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416052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16243B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1F2E45"/>
          </a:solidFill>
          <a:ln/>
        </p:spPr>
      </p:sp>
      <p:pic>
        <p:nvPicPr>
          <p:cNvPr id="16" name="Image 2" descr="icons/users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49884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436168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" y="4937760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8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spender and 30+ rental “loyal customer” segment are natural rewards-program targets.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8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under 15 lifetime rentals form a win-back / re-engagement list.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8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active-status labeling gives a quick account-health view per customer.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416052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16243B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389120"/>
            <a:ext cx="457200" cy="457200"/>
          </a:xfrm>
          <a:prstGeom prst="ellipse">
            <a:avLst/>
          </a:prstGeom>
          <a:solidFill>
            <a:srgbClr val="1F2E45"/>
          </a:solidFill>
          <a:ln/>
        </p:spPr>
      </p:sp>
      <p:pic>
        <p:nvPicPr>
          <p:cNvPr id="21" name="Image 3" descr="icons/masks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49884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36168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Cast &amp; Inventory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629400" y="4937760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8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Actor-to-film and cast-size queries support a “browse by actor” feature and investor visibility.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8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2 inventory query directly supports collection-expansion planning.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3291840" cy="3291840"/>
          </a:xfrm>
          <a:prstGeom prst="ellipse">
            <a:avLst/>
          </a:prstGeom>
          <a:solidFill>
            <a:srgbClr val="16243B"/>
          </a:solidFill>
          <a:ln/>
        </p:spPr>
      </p:sp>
      <p:sp>
        <p:nvSpPr>
          <p:cNvPr id="3" name="Shape 1"/>
          <p:cNvSpPr/>
          <p:nvPr/>
        </p:nvSpPr>
        <p:spPr>
          <a:xfrm>
            <a:off x="10545775" y="5212080"/>
            <a:ext cx="3291840" cy="3291840"/>
          </a:xfrm>
          <a:prstGeom prst="ellipse">
            <a:avLst/>
          </a:prstGeom>
          <a:solidFill>
            <a:srgbClr val="16243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9601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4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end-to-end SQL portfolio project explored the Maven Movies rental database through 31 real-world business questions — from customer segmentation and revenue analysis to inventory, pricing, and cast strategy. Hands-on MySQL work with joins, aggregations, CASE logic, subqueries, and UNION turned raw relational data into clear, decision-ready insights for marketing, inventory, and management stakeholders, demonstrating practical, job-ready data analyst skills.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3749040"/>
            <a:ext cx="9601200" cy="1371600"/>
          </a:xfrm>
          <a:prstGeom prst="roundRect">
            <a:avLst>
              <a:gd name="adj" fmla="val 5333"/>
            </a:avLst>
          </a:prstGeom>
          <a:solidFill>
            <a:srgbClr val="16243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749040"/>
            <a:ext cx="8961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Payal Rana
</a:t>
            </a:r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Data Analyst    </a:t>
            </a:r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MySQL Workbench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126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MOVIES — SQL PORTFOLIO PROJECT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Maven Movies Rental Business - SQL Data Analysis Project</dc:title>
  <dc:subject>PptxGenJS Presentation</dc:subject>
  <dc:creator>Payal Rana</dc:creator>
  <cp:lastModifiedBy>Payal Rana</cp:lastModifiedBy>
  <cp:revision>1</cp:revision>
  <dcterms:created xsi:type="dcterms:W3CDTF">2026-07-01T06:22:32Z</dcterms:created>
  <dcterms:modified xsi:type="dcterms:W3CDTF">2026-07-01T06:22:32Z</dcterms:modified>
</cp:coreProperties>
</file>